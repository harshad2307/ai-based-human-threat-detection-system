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ommentAuthors.xml" ContentType="application/vnd.openxmlformats-officedocument.presentationml.comment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howSpecialPlsOnTitleSld="0">
  <p:sldMasterIdLst>
    <p:sldMasterId id="2147483660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1pPr>
    <a:lvl2pPr marL="457200" indent="0"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2pPr>
    <a:lvl3pPr marL="914400" indent="0"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3pPr>
    <a:lvl4pPr marL="1371600" indent="0"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4pPr>
    <a:lvl5pPr marL="1828800" indent="0" algn="l" defTabSz="914400" fontAlgn="base" hangingPunct="1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ＭＳ Ｐゴシック" pitchFamily="1" charset="-128"/>
        <a:cs typeface="Droid Sans" pitchFamily="0" charset="0"/>
      </a:defRPr>
    </a:lvl9pPr>
  </p:defaultTextStyle>
</p:presentation>
</file>

<file path=ppt/commentAuthors.xml><?xml version="1.0" encoding="utf-8"?>
<p:cmAuthorLst xmlns:p="http://schemas.openxmlformats.org/presentationml/2006/main">
  <p:cmAuthor id="1" name="shital patil" initials="sp" lastIdx="1" clrIdx="0"/>
</p:cmAuthorLst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204" autoAdjust="0"/>
    <p:restoredTop sz="94660" autoAdjust="0"/>
  </p:normalViewPr>
  <p:slideViewPr>
    <p:cSldViewPr snapToGrid="0" snapToObjects="1">
      <p:cViewPr varScale="1">
        <p:scale>
          <a:sx n="56" d="100"/>
          <a:sy n="56" d="100"/>
        </p:scale>
        <p:origin x="0" y="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/Relationships>
</file>

<file path=ppt/comments/comment1.xml><?xml version="1.0" encoding="utf-8"?>
<p:cmLst xmlns:p="http://schemas.openxmlformats.org/presentationml/2006/main" xmlns:r="http://schemas.openxmlformats.org/officeDocument/2006/relationships" xmlns:a="http://schemas.openxmlformats.org/drawingml/2006/main">
  <p:cm authorId="1" dt="2025-10-13T15:53:57.610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&lt;#&gt;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7" name="文本框"/>
          <p:cNvSpPr>
            <a:spLocks noGrp="1"/>
          </p:cNvSpPr>
          <p:nvPr>
            <p:ph type="hdr"/>
          </p:nvPr>
        </p:nvSpPr>
        <p:spPr>
          <a:xfrm rot="0">
            <a:off x="0" y="0"/>
            <a:ext cx="297179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200"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dt" idx="1"/>
          </p:nvPr>
        </p:nvSpPr>
        <p:spPr>
          <a:xfrm rot="0">
            <a:off x="3884613" y="0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algn="r"/>
            <a:fld id="{CAD2D6BD-DE1B-4B5F-8B41-2702339687B9}" type="datetime1">
              <a:rPr lang="en-US" altLang="zh-CN" sz="1200"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9/13/2026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9" name="对象"/>
          <p:cNvSpPr>
            <a:spLocks noGrp="1" noChangeAspect="1"/>
          </p:cNvSpPr>
          <p:nvPr>
            <p:ph type="sldImg" idx="2"/>
          </p:nvPr>
        </p:nvSpPr>
        <p:spPr>
          <a:xfrm rot="0">
            <a:off x="381000" y="685800"/>
            <a:ext cx="6096000" cy="3429000"/>
          </a:xfrm>
          <a:prstGeom prst="rect"/>
          <a:noFill/>
          <a:ln w="12700" cmpd="sng" cap="flat">
            <a:solidFill>
              <a:srgbClr val="000000"/>
            </a:solidFill>
            <a:prstDash val="solid"/>
            <a:round/>
          </a:ln>
        </p:spPr>
      </p:sp>
      <p:sp>
        <p:nvSpPr>
          <p:cNvPr id="10" name="文本框"/>
          <p:cNvSpPr>
            <a:spLocks noGrp="1"/>
          </p:cNvSpPr>
          <p:nvPr>
            <p:ph type="body" idx="3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框"/>
          <p:cNvSpPr>
            <a:spLocks noGrp="1"/>
          </p:cNvSpPr>
          <p:nvPr>
            <p:ph type="ftr" idx="4"/>
          </p:nvPr>
        </p:nvSpPr>
        <p:spPr>
          <a:xfrm rot="0">
            <a:off x="0" y="8685213"/>
            <a:ext cx="2971799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endParaRPr lang="zh-CN" altLang="en-US" sz="1200"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117966"/>
      </p:ext>
    </p:extLst>
  </p:cSld>
  <p:clrMap bg1="lt1" tx1="dk1" bg2="lt2" tx2="dk2" accent1="accent1" accent2="accent2" accent3="accent3" accent4="accent4" accent5="accent5" accent6="accent6" hlink="hlink" folHlink="folHlink"/>
  <p:hf sldNum="1" hdr="0" ftr="0" dt="0"/>
  <p:notesStyle>
    <a:lvl1pPr marL="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ＭＳ Ｐゴシック" pitchFamily="1" charset="-128"/>
      </a:defRPr>
    </a:lvl1pPr>
    <a:lvl2pPr marL="45720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Calibri" pitchFamily="34" charset="0"/>
      </a:defRPr>
    </a:lvl2pPr>
    <a:lvl3pPr marL="91440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Calibri" pitchFamily="34" charset="0"/>
      </a:defRPr>
    </a:lvl3pPr>
    <a:lvl4pPr marL="137160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Calibri" pitchFamily="34" charset="0"/>
      </a:defRPr>
    </a:lvl4pPr>
    <a:lvl5pPr marL="1828800" indent="0" algn="l" defTabSz="914400" eaLnBrk="0" fontAlgn="base" hangingPunct="0">
      <a:lnSpc>
        <a:spcPct val="100000"/>
      </a:lnSpc>
      <a:spcBef>
        <a:spcPct val="3000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ＭＳ Ｐゴシック" pitchFamily="1" charset="-128"/>
        <a:cs typeface="Calibri" pitchFamily="34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Calibri" pitchFamily="34" charset="0"/>
        <a:ea typeface="宋体" pitchFamily="0" charset="0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1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038834"/>
      </p:ext>
    </p:extLst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2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91806"/>
      </p:ext>
    </p:extLst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3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50" name="对象"/>
          <p:cNvSpPr>
            <a:spLocks noGrp="1" noChangeAspect="1"/>
          </p:cNvSpPr>
          <p:nvPr>
            <p:ph type="sldImg"/>
          </p:nvPr>
        </p:nvSpPr>
        <p:spPr>
          <a:xfrm rot="0">
            <a:off x="381000" y="685800"/>
            <a:ext cx="6096000" cy="34290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51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537636"/>
      </p:ext>
    </p:extLst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4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71" name="对象"/>
          <p:cNvSpPr>
            <a:spLocks noGrp="1" noChangeAspect="1"/>
          </p:cNvSpPr>
          <p:nvPr>
            <p:ph type="sldImg"/>
          </p:nvPr>
        </p:nvSpPr>
        <p:spPr>
          <a:xfrm rot="0">
            <a:off x="381000" y="685800"/>
            <a:ext cx="6096000" cy="34290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72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40595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5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86" name="对象"/>
          <p:cNvSpPr>
            <a:spLocks noGrp="1" noChangeAspect="1"/>
          </p:cNvSpPr>
          <p:nvPr>
            <p:ph type="sldImg"/>
          </p:nvPr>
        </p:nvSpPr>
        <p:spPr>
          <a:xfrm rot="0">
            <a:off x="381000" y="685800"/>
            <a:ext cx="6096000" cy="34290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87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798195"/>
      </p:ext>
    </p:extLst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6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101" name="对象"/>
          <p:cNvSpPr>
            <a:spLocks noGrp="1" noChangeAspect="1"/>
          </p:cNvSpPr>
          <p:nvPr>
            <p:ph type="sldImg"/>
          </p:nvPr>
        </p:nvSpPr>
        <p:spPr>
          <a:xfrm rot="0">
            <a:off x="381000" y="685800"/>
            <a:ext cx="6096000" cy="34290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102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524852"/>
      </p:ext>
    </p:extLst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sldNum" idx="5"/>
          </p:nvPr>
        </p:nvSpPr>
        <p:spPr>
          <a:xfrm rot="0">
            <a:off x="3884613" y="8685213"/>
            <a:ext cx="2971800" cy="4572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7</a:t>
            </a:fld>
            <a:endParaRPr lang="zh-CN" altLang="en-US" sz="1200"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110" name="对象"/>
          <p:cNvSpPr>
            <a:spLocks noGrp="1" noChangeAspect="1"/>
          </p:cNvSpPr>
          <p:nvPr>
            <p:ph type="sldImg"/>
          </p:nvPr>
        </p:nvSpPr>
        <p:spPr>
          <a:xfrm rot="0">
            <a:off x="381000" y="685800"/>
            <a:ext cx="6096000" cy="3429000"/>
          </a:xfrm>
          <a:prstGeom prst="rect"/>
          <a:noFill/>
          <a:ln w="12700" cmpd="sng" cap="flat">
            <a:solidFill>
              <a:srgbClr val="000000"/>
            </a:solidFill>
            <a:prstDash val="solid"/>
            <a:miter/>
          </a:ln>
        </p:spPr>
      </p:sp>
      <p:sp>
        <p:nvSpPr>
          <p:cNvPr id="111" name="文本框"/>
          <p:cNvSpPr>
            <a:spLocks noGrp="1"/>
          </p:cNvSpPr>
          <p:nvPr>
            <p:ph type="body" idx="1"/>
          </p:nvPr>
        </p:nvSpPr>
        <p:spPr>
          <a:xfrm rot="0">
            <a:off x="685800" y="4343400"/>
            <a:ext cx="5486400" cy="41148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335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showMasterSp="0" type="title" preserve="1">
  <p:cSld name="标题幻灯片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13" name="文本框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 rot="0">
            <a:off x="914400" y="2130428"/>
            <a:ext cx="10363199" cy="14700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9525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TradeGothic" pitchFamily="0" charset="0"/>
                <a:ea typeface="ＭＳ Ｐゴシック" pitchFamily="1" charset="-128"/>
                <a:cs typeface="Lucida Sans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TradeGothic" pitchFamily="0" charset="0"/>
              <a:ea typeface="ＭＳ Ｐゴシック" pitchFamily="1" charset="-128"/>
              <a:cs typeface="Lucida Sans"/>
            </a:endParaRPr>
          </a:p>
        </p:txBody>
      </p:sp>
      <p:sp>
        <p:nvSpPr>
          <p:cNvPr id="14" name="文本框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 rot="0">
            <a:off x="1828800" y="3886200"/>
            <a:ext cx="8534401" cy="1752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9525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TradeGothic" pitchFamily="0" charset="0"/>
                <a:ea typeface="ＭＳ Ｐゴシック" pitchFamily="1" charset="-128"/>
                <a:cs typeface="Lucida Sans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TradeGothic" pitchFamily="0" charset="0"/>
              <a:ea typeface="ＭＳ Ｐゴシック" pitchFamily="1" charset="-128"/>
              <a:cs typeface="Lucida Sans"/>
            </a:endParaRPr>
          </a:p>
        </p:txBody>
      </p:sp>
      <p:sp>
        <p:nvSpPr>
          <p:cNvPr id="15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609600" y="6356352"/>
            <a:ext cx="28448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datetime1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9/13/2026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16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165600" y="6356352"/>
            <a:ext cx="3860799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pitchFamily="0" charset="0"/>
                <a:ea typeface="宋体" pitchFamily="0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radeGothic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7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737600" y="6356352"/>
            <a:ext cx="2844799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&lt;#&gt;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56323"/>
      </p:ext>
    </p:extLst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94516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415063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361058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829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310074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338208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87115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199271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243641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473188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5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0">
            <a:off x="609600" y="-47625"/>
            <a:ext cx="10972800" cy="114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9525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6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0">
            <a:off x="609600" y="1095375"/>
            <a:ext cx="10972800" cy="5030787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9525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t" anchorCtr="0">
            <a:prstTxWarp prst="textNoShape"/>
          </a:bodyPr>
          <a:lstStyle xmlns:a="http://schemas.openxmlformats.org/drawingml/2006/main"/>
          <a:p xmlns:a="http://schemas.openxmlformats.org/drawingml/2006/main">
            <a:r>
              <a:rPr lang="en-US" altLang="zh-CN"/>
              <a:t>Click to edit Master text styles</a:t>
            </a:r>
            <a:endParaRPr lang="en-US" altLang="zh-CN"/>
          </a:p>
          <a:p xmlns:a="http://schemas.openxmlformats.org/drawingml/2006/main">
            <a:pPr lvl="1"/>
            <a:r>
              <a:rPr lang="en-US" altLang="zh-CN"/>
              <a:t>Second level</a:t>
            </a:r>
            <a:endParaRPr lang="en-US" altLang="zh-CN"/>
          </a:p>
          <a:p xmlns:a="http://schemas.openxmlformats.org/drawingml/2006/main">
            <a:pPr lvl="2"/>
            <a:r>
              <a:rPr lang="en-US" altLang="zh-CN"/>
              <a:t>Third level</a:t>
            </a:r>
            <a:endParaRPr lang="en-US" altLang="zh-CN"/>
          </a:p>
          <a:p xmlns:a="http://schemas.openxmlformats.org/drawingml/2006/main">
            <a:pPr lvl="3"/>
            <a:r>
              <a:rPr lang="en-US" altLang="zh-CN"/>
              <a:t>Fourth level</a:t>
            </a:r>
            <a:endParaRPr lang="en-US" altLang="zh-CN"/>
          </a:p>
          <a:p xmlns:a="http://schemas.openxmlformats.org/drawingml/2006/main"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2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609600" y="6356352"/>
            <a:ext cx="28448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9/13/2026</a:t>
            </a:fld>
            <a:endParaRPr lang="zh-CN" altLang="en-US" sz="1200">
              <a:solidFill>
                <a:srgbClr val="898989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2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4165600" y="6356352"/>
            <a:ext cx="3860799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898989"/>
                </a:solidFill>
                <a:latin typeface="TradeGothic" pitchFamily="0" charset="0"/>
                <a:ea typeface="宋体" pitchFamily="0" charset="0"/>
                <a:cs typeface="Calibri" pitchFamily="34" charset="0"/>
              </a:rPr>
              <a:t>@SIH Idea submission- Template</a:t>
            </a:r>
            <a:endParaRPr lang="zh-CN" altLang="en-US" sz="1200">
              <a:solidFill>
                <a:srgbClr val="898989"/>
              </a:solidFill>
              <a:latin typeface="TradeGothic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2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8737600" y="6356352"/>
            <a:ext cx="2844799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136123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609600" y="-47625"/>
            <a:ext cx="10972800" cy="1143000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609600" y="1095375"/>
            <a:ext cx="10972800" cy="5030787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609600" y="6356352"/>
            <a:ext cx="28448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9/13/2026</a:t>
            </a:fld>
            <a:endParaRPr lang="zh-CN" altLang="en-US" sz="1200">
              <a:solidFill>
                <a:srgbClr val="898989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4165600" y="6356352"/>
            <a:ext cx="3860799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>
                <a:solidFill>
                  <a:srgbClr val="898989"/>
                </a:solidFill>
                <a:latin typeface="TradeGothic" pitchFamily="0" charset="0"/>
                <a:ea typeface="宋体" pitchFamily="0" charset="0"/>
                <a:cs typeface="Calibri" pitchFamily="34" charset="0"/>
              </a:rPr>
              <a:t>@SIH Idea submission- Template</a:t>
            </a:r>
            <a:endParaRPr lang="zh-CN" altLang="en-US" sz="1200">
              <a:solidFill>
                <a:srgbClr val="898989"/>
              </a:solidFill>
              <a:latin typeface="TradeGothic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8737600" y="6356352"/>
            <a:ext cx="2844799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7587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0" fontAlgn="base" hangingPunct="0"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TradeGothic" pitchFamily="0" charset="0"/>
          <a:ea typeface="ＭＳ Ｐゴシック" pitchFamily="1" charset="-128"/>
          <a:cs typeface="ＭＳ Ｐゴシック" pitchFamily="1" charset="-128"/>
        </a:defRPr>
      </a:lvl1pPr>
    </p:titleStyle>
    <p:bodyStyle>
      <a:lvl1pPr marL="342900" indent="-34290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 pitchFamily="0" charset="0"/>
          <a:ea typeface="ＭＳ Ｐゴシック" pitchFamily="1" charset="-128"/>
          <a:cs typeface="ＭＳ Ｐゴシック" pitchFamily="1" charset="-128"/>
        </a:defRPr>
      </a:lvl1pPr>
      <a:lvl2pPr marL="742950" indent="-28575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 pitchFamily="0" charset="0"/>
          <a:ea typeface="ＭＳ Ｐゴシック" pitchFamily="1" charset="-128"/>
          <a:cs typeface="Calibri" pitchFamily="34" charset="0"/>
        </a:defRPr>
      </a:lvl2pPr>
      <a:lvl3pPr marL="1143000" indent="-22860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 pitchFamily="0" charset="0"/>
          <a:ea typeface="ＭＳ Ｐゴシック" pitchFamily="1" charset="-128"/>
          <a:cs typeface="Calibri" pitchFamily="34" charset="0"/>
        </a:defRPr>
      </a:lvl3pPr>
      <a:lvl4pPr marL="1600200" indent="-22860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 pitchFamily="0" charset="0"/>
          <a:ea typeface="ＭＳ Ｐゴシック" pitchFamily="1" charset="-128"/>
          <a:cs typeface="Calibri" pitchFamily="34" charset="0"/>
        </a:defRPr>
      </a:lvl4pPr>
      <a:lvl5pPr marL="2057400" indent="-228600" algn="l" defTabSz="914400" eaLnBrk="0" fontAlgn="base" hangingPunct="0">
        <a:spcBef>
          <a:spcPct val="20000"/>
        </a:spcBef>
        <a:spcAft>
          <a:spcPts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 pitchFamily="0" charset="0"/>
          <a:ea typeface="ＭＳ Ｐゴシック" pitchFamily="1" charset="-128"/>
          <a:cs typeface="Calibri" pitchFamily="34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34" charset="0"/>
          <a:ea typeface="宋体" pitchFamily="0" charset="0"/>
          <a:cs typeface="Calibri" pitchFamily="34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.png"/><Relationship Id="rId2" Type="http://schemas.openxmlformats.org/officeDocument/2006/relationships/image" Target="../media/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3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文本框"/>
          <p:cNvSpPr>
            <a:spLocks noGrp="1"/>
          </p:cNvSpPr>
          <p:nvPr>
            <p:ph type="title"/>
          </p:nvPr>
        </p:nvSpPr>
        <p:spPr>
          <a:xfrm rot="0">
            <a:off x="609600" y="-47625"/>
            <a:ext cx="10972800" cy="1143000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endParaRPr lang="zh-CN" altLang="en-US"/>
          </a:p>
        </p:txBody>
      </p:sp>
      <p:sp>
        <p:nvSpPr>
          <p:cNvPr id="113" name="文本框"/>
          <p:cNvSpPr>
            <a:spLocks noGrp="1"/>
          </p:cNvSpPr>
          <p:nvPr>
            <p:ph type="body" idx="1"/>
          </p:nvPr>
        </p:nvSpPr>
        <p:spPr>
          <a:xfrm rot="0">
            <a:off x="609600" y="1095375"/>
            <a:ext cx="10972800" cy="5030787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endParaRPr lang="zh-CN" altLang="en-US"/>
          </a:p>
        </p:txBody>
      </p:sp>
      <p:pic>
        <p:nvPicPr>
          <p:cNvPr id="11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629320" y="-247007"/>
            <a:ext cx="11106661" cy="7118510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1343517297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矩形"/>
          <p:cNvSpPr>
            <a:spLocks noChangeAspect="1"/>
          </p:cNvSpPr>
          <p:nvPr/>
        </p:nvSpPr>
        <p:spPr>
          <a:xfrm rot="0">
            <a:off x="1524000" y="0"/>
            <a:ext cx="9144000" cy="6858000"/>
          </a:xfrm>
          <a:prstGeom prst="rect"/>
          <a:ln w="25400" cmpd="sng" cap="flat">
            <a:noFill/>
            <a:prstDash val="solid"/>
            <a:round/>
          </a:ln>
        </p:spPr>
      </p:sp>
      <p:sp>
        <p:nvSpPr>
          <p:cNvPr id="19" name="曲线"/>
          <p:cNvSpPr>
            <a:spLocks noChangeAspect="1"/>
          </p:cNvSpPr>
          <p:nvPr/>
        </p:nvSpPr>
        <p:spPr>
          <a:xfrm rot="0">
            <a:off x="5656779" y="851521"/>
            <a:ext cx="4638605" cy="5154966"/>
          </a:xfrm>
          <a:custGeom>
            <a:gdLst>
              <a:gd name="T1" fmla="*/ 0 w 21600"/>
              <a:gd name="T2" fmla="*/ 0 h 21600"/>
              <a:gd name="T3" fmla="*/ 21600 w 21600"/>
              <a:gd name="T4" fmla="*/ 21600 h 21600"/>
            </a:gdLst>
            <a:rect l="T1" t="T2" r="T3" b="T4"/>
            <a:pathLst>
              <a:path w="21600" h="21600">
                <a:moveTo>
                  <a:pt x="1268" y="13094"/>
                </a:moveTo>
                <a:cubicBezTo>
                  <a:pt x="1268" y="13094"/>
                  <a:pt x="1268" y="13094"/>
                  <a:pt x="3137" y="13094"/>
                </a:cubicBezTo>
                <a:cubicBezTo>
                  <a:pt x="3254" y="13094"/>
                  <a:pt x="3367" y="13172"/>
                  <a:pt x="3423" y="13297"/>
                </a:cubicBezTo>
                <a:cubicBezTo>
                  <a:pt x="3423" y="13297"/>
                  <a:pt x="3423" y="13297"/>
                  <a:pt x="4360" y="15232"/>
                </a:cubicBezTo>
                <a:cubicBezTo>
                  <a:pt x="4420" y="15352"/>
                  <a:pt x="4420" y="15507"/>
                  <a:pt x="4360" y="15627"/>
                </a:cubicBezTo>
                <a:cubicBezTo>
                  <a:pt x="4360" y="15627"/>
                  <a:pt x="4360" y="15627"/>
                  <a:pt x="3423" y="17562"/>
                </a:cubicBezTo>
                <a:cubicBezTo>
                  <a:pt x="3367" y="17688"/>
                  <a:pt x="3254" y="17765"/>
                  <a:pt x="3137" y="17765"/>
                </a:cubicBezTo>
                <a:cubicBezTo>
                  <a:pt x="3137" y="17765"/>
                  <a:pt x="3137" y="17765"/>
                  <a:pt x="1268" y="17765"/>
                </a:cubicBezTo>
                <a:cubicBezTo>
                  <a:pt x="1147" y="17765"/>
                  <a:pt x="1038" y="17688"/>
                  <a:pt x="977" y="17562"/>
                </a:cubicBezTo>
                <a:cubicBezTo>
                  <a:pt x="977" y="17562"/>
                  <a:pt x="977" y="17562"/>
                  <a:pt x="45" y="15627"/>
                </a:cubicBezTo>
                <a:cubicBezTo>
                  <a:pt x="-15" y="15507"/>
                  <a:pt x="-15" y="15352"/>
                  <a:pt x="45" y="15232"/>
                </a:cubicBezTo>
                <a:cubicBezTo>
                  <a:pt x="45" y="15232"/>
                  <a:pt x="45" y="15232"/>
                  <a:pt x="977" y="13297"/>
                </a:cubicBezTo>
                <a:cubicBezTo>
                  <a:pt x="1038" y="13172"/>
                  <a:pt x="1147" y="13094"/>
                  <a:pt x="1268" y="13094"/>
                </a:cubicBezTo>
              </a:path>
              <a:path w="21600" h="21600">
                <a:moveTo>
                  <a:pt x="8695" y="2388"/>
                </a:moveTo>
                <a:cubicBezTo>
                  <a:pt x="8695" y="2388"/>
                  <a:pt x="8695" y="2388"/>
                  <a:pt x="9656" y="2388"/>
                </a:cubicBezTo>
                <a:lnTo>
                  <a:pt x="9768" y="2388"/>
                </a:lnTo>
                <a:lnTo>
                  <a:pt x="9875" y="2609"/>
                </a:lnTo>
                <a:cubicBezTo>
                  <a:pt x="10024" y="2917"/>
                  <a:pt x="10197" y="3275"/>
                  <a:pt x="10399" y="3691"/>
                </a:cubicBezTo>
                <a:cubicBezTo>
                  <a:pt x="10491" y="3876"/>
                  <a:pt x="10491" y="4113"/>
                  <a:pt x="10399" y="4297"/>
                </a:cubicBezTo>
                <a:cubicBezTo>
                  <a:pt x="10399" y="4297"/>
                  <a:pt x="10399" y="4297"/>
                  <a:pt x="8964" y="7260"/>
                </a:cubicBezTo>
                <a:cubicBezTo>
                  <a:pt x="8878" y="7453"/>
                  <a:pt x="8705" y="7571"/>
                  <a:pt x="8526" y="7571"/>
                </a:cubicBezTo>
                <a:cubicBezTo>
                  <a:pt x="8526" y="7571"/>
                  <a:pt x="8526" y="7571"/>
                  <a:pt x="5664" y="7571"/>
                </a:cubicBezTo>
                <a:cubicBezTo>
                  <a:pt x="5617" y="7571"/>
                  <a:pt x="5572" y="7563"/>
                  <a:pt x="5529" y="7549"/>
                </a:cubicBezTo>
                <a:lnTo>
                  <a:pt x="5436" y="7503"/>
                </a:lnTo>
                <a:lnTo>
                  <a:pt x="5493" y="7385"/>
                </a:lnTo>
                <a:cubicBezTo>
                  <a:pt x="6005" y="6323"/>
                  <a:pt x="6660" y="4962"/>
                  <a:pt x="7499" y="3222"/>
                </a:cubicBezTo>
                <a:cubicBezTo>
                  <a:pt x="7748" y="2706"/>
                  <a:pt x="8197" y="2388"/>
                  <a:pt x="8695" y="2388"/>
                </a:cubicBezTo>
              </a:path>
              <a:path w="21600" h="21600">
                <a:moveTo>
                  <a:pt x="5494" y="0"/>
                </a:moveTo>
                <a:cubicBezTo>
                  <a:pt x="5494" y="0"/>
                  <a:pt x="5494" y="0"/>
                  <a:pt x="8722" y="0"/>
                </a:cubicBezTo>
                <a:cubicBezTo>
                  <a:pt x="8925" y="0"/>
                  <a:pt x="9120" y="133"/>
                  <a:pt x="9217" y="350"/>
                </a:cubicBezTo>
                <a:cubicBezTo>
                  <a:pt x="9217" y="350"/>
                  <a:pt x="9217" y="350"/>
                  <a:pt x="10085" y="2142"/>
                </a:cubicBezTo>
                <a:lnTo>
                  <a:pt x="10183" y="2345"/>
                </a:lnTo>
                <a:lnTo>
                  <a:pt x="10106" y="2345"/>
                </a:lnTo>
                <a:lnTo>
                  <a:pt x="9742" y="2345"/>
                </a:lnTo>
                <a:lnTo>
                  <a:pt x="9583" y="2018"/>
                </a:lnTo>
                <a:cubicBezTo>
                  <a:pt x="8978" y="768"/>
                  <a:pt x="8978" y="768"/>
                  <a:pt x="8978" y="768"/>
                </a:cubicBezTo>
                <a:cubicBezTo>
                  <a:pt x="8892" y="575"/>
                  <a:pt x="8719" y="457"/>
                  <a:pt x="8539" y="457"/>
                </a:cubicBezTo>
                <a:cubicBezTo>
                  <a:pt x="5677" y="457"/>
                  <a:pt x="5677" y="457"/>
                  <a:pt x="5677" y="457"/>
                </a:cubicBezTo>
                <a:cubicBezTo>
                  <a:pt x="5492" y="457"/>
                  <a:pt x="5325" y="575"/>
                  <a:pt x="5232" y="768"/>
                </a:cubicBezTo>
                <a:cubicBezTo>
                  <a:pt x="3804" y="3731"/>
                  <a:pt x="3804" y="3731"/>
                  <a:pt x="3804" y="3731"/>
                </a:cubicBezTo>
                <a:cubicBezTo>
                  <a:pt x="3711" y="3915"/>
                  <a:pt x="3711" y="4152"/>
                  <a:pt x="3804" y="4337"/>
                </a:cubicBezTo>
                <a:cubicBezTo>
                  <a:pt x="5232" y="7300"/>
                  <a:pt x="5232" y="7300"/>
                  <a:pt x="5232" y="7300"/>
                </a:cubicBezTo>
                <a:cubicBezTo>
                  <a:pt x="5278" y="7396"/>
                  <a:pt x="5343" y="7473"/>
                  <a:pt x="5420" y="7527"/>
                </a:cubicBezTo>
                <a:lnTo>
                  <a:pt x="5442" y="7538"/>
                </a:lnTo>
                <a:lnTo>
                  <a:pt x="5325" y="7779"/>
                </a:lnTo>
                <a:lnTo>
                  <a:pt x="5239" y="7959"/>
                </a:lnTo>
                <a:lnTo>
                  <a:pt x="5328" y="8004"/>
                </a:lnTo>
                <a:cubicBezTo>
                  <a:pt x="5377" y="8020"/>
                  <a:pt x="5428" y="8029"/>
                  <a:pt x="5480" y="8029"/>
                </a:cubicBezTo>
                <a:cubicBezTo>
                  <a:pt x="8709" y="8029"/>
                  <a:pt x="8709" y="8029"/>
                  <a:pt x="8709" y="8029"/>
                </a:cubicBezTo>
                <a:cubicBezTo>
                  <a:pt x="8911" y="8029"/>
                  <a:pt x="9106" y="7895"/>
                  <a:pt x="9204" y="7678"/>
                </a:cubicBezTo>
                <a:cubicBezTo>
                  <a:pt x="10821" y="4336"/>
                  <a:pt x="10821" y="4336"/>
                  <a:pt x="10821" y="4336"/>
                </a:cubicBezTo>
                <a:cubicBezTo>
                  <a:pt x="10926" y="4128"/>
                  <a:pt x="10926" y="3861"/>
                  <a:pt x="10821" y="3653"/>
                </a:cubicBezTo>
                <a:cubicBezTo>
                  <a:pt x="10619" y="3235"/>
                  <a:pt x="10442" y="2869"/>
                  <a:pt x="10288" y="2550"/>
                </a:cubicBezTo>
                <a:lnTo>
                  <a:pt x="10209" y="2388"/>
                </a:lnTo>
                <a:lnTo>
                  <a:pt x="10571" y="2388"/>
                </a:lnTo>
                <a:cubicBezTo>
                  <a:pt x="11698" y="2388"/>
                  <a:pt x="13499" y="2388"/>
                  <a:pt x="16382" y="2388"/>
                </a:cubicBezTo>
                <a:cubicBezTo>
                  <a:pt x="16863" y="2388"/>
                  <a:pt x="17328" y="2706"/>
                  <a:pt x="17561" y="3222"/>
                </a:cubicBezTo>
                <a:cubicBezTo>
                  <a:pt x="17561" y="3222"/>
                  <a:pt x="17561" y="3222"/>
                  <a:pt x="21413" y="11180"/>
                </a:cubicBezTo>
                <a:cubicBezTo>
                  <a:pt x="21662" y="11676"/>
                  <a:pt x="21662" y="12311"/>
                  <a:pt x="21413" y="12807"/>
                </a:cubicBezTo>
                <a:cubicBezTo>
                  <a:pt x="21413" y="12807"/>
                  <a:pt x="21413" y="12807"/>
                  <a:pt x="17561" y="20766"/>
                </a:cubicBezTo>
                <a:cubicBezTo>
                  <a:pt x="17328" y="21282"/>
                  <a:pt x="16863" y="21600"/>
                  <a:pt x="16382" y="21600"/>
                </a:cubicBezTo>
                <a:cubicBezTo>
                  <a:pt x="16382" y="21600"/>
                  <a:pt x="16382" y="21600"/>
                  <a:pt x="8695" y="21600"/>
                </a:cubicBezTo>
                <a:cubicBezTo>
                  <a:pt x="8197" y="21600"/>
                  <a:pt x="7748" y="21282"/>
                  <a:pt x="7499" y="20766"/>
                </a:cubicBezTo>
                <a:cubicBezTo>
                  <a:pt x="7499" y="20766"/>
                  <a:pt x="7499" y="20766"/>
                  <a:pt x="3664" y="12807"/>
                </a:cubicBezTo>
                <a:cubicBezTo>
                  <a:pt x="3415" y="12311"/>
                  <a:pt x="3415" y="11676"/>
                  <a:pt x="3664" y="11180"/>
                </a:cubicBezTo>
                <a:cubicBezTo>
                  <a:pt x="3664" y="11180"/>
                  <a:pt x="3664" y="11180"/>
                  <a:pt x="5088" y="8225"/>
                </a:cubicBezTo>
                <a:lnTo>
                  <a:pt x="5208" y="7976"/>
                </a:lnTo>
                <a:lnTo>
                  <a:pt x="5204" y="7974"/>
                </a:lnTo>
                <a:cubicBezTo>
                  <a:pt x="5118" y="7913"/>
                  <a:pt x="5044" y="7826"/>
                  <a:pt x="4992" y="7718"/>
                </a:cubicBezTo>
                <a:cubicBezTo>
                  <a:pt x="4992" y="7718"/>
                  <a:pt x="4992" y="7718"/>
                  <a:pt x="3381" y="4375"/>
                </a:cubicBezTo>
                <a:cubicBezTo>
                  <a:pt x="3277" y="4167"/>
                  <a:pt x="3277" y="3900"/>
                  <a:pt x="3381" y="3692"/>
                </a:cubicBezTo>
                <a:cubicBezTo>
                  <a:pt x="3381" y="3692"/>
                  <a:pt x="3381" y="3692"/>
                  <a:pt x="4992" y="350"/>
                </a:cubicBezTo>
                <a:cubicBezTo>
                  <a:pt x="5097" y="133"/>
                  <a:pt x="5285" y="0"/>
                  <a:pt x="5494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25400" cmpd="sng" cap="flat">
            <a:noFill/>
            <a:prstDash val="solid"/>
            <a:round/>
          </a:ln>
        </p:spPr>
      </p:sp>
      <p:pic>
        <p:nvPicPr>
          <p:cNvPr id="20" name="图片"/>
          <p:cNvPicPr>
            <a:picLocks noChangeAspect="1"/>
          </p:cNvPicPr>
          <p:nvPr/>
        </p:nvPicPr>
        <p:blipFill>
          <a:blip r:embed="rId1" cstate="print"/>
          <a:srcRect r="59916"/>
          <a:stretch>
            <a:fillRect/>
          </a:stretch>
        </p:blipFill>
        <p:spPr>
          <a:xfrm rot="0">
            <a:off x="6854891" y="1715881"/>
            <a:ext cx="3203509" cy="342623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21" name="文本框"/>
          <p:cNvSpPr>
            <a:spLocks noGrp="1"/>
          </p:cNvSpPr>
          <p:nvPr>
            <p:ph type="subTitle" idx="1"/>
          </p:nvPr>
        </p:nvSpPr>
        <p:spPr>
          <a:xfrm rot="0">
            <a:off x="1245686" y="648614"/>
            <a:ext cx="8534399" cy="1752600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endParaRPr lang="en-US" altLang="zh-CN" sz="32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endParaRPr lang="zh-CN" altLang="en-US" sz="32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22" name="文本框"/>
          <p:cNvSpPr>
            <a:spLocks noGrp="1"/>
          </p:cNvSpPr>
          <p:nvPr>
            <p:ph type="ctrTitle"/>
          </p:nvPr>
        </p:nvSpPr>
        <p:spPr>
          <a:xfrm rot="0">
            <a:off x="331286" y="-526757"/>
            <a:ext cx="10363199" cy="2076450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2"/>
                </a:solidFill>
                <a:latin typeface="Garamond" pitchFamily="18" charset="0"/>
                <a:ea typeface="ＭＳ Ｐゴシック" pitchFamily="1" charset="-128"/>
                <a:cs typeface="Lucida Sans"/>
              </a:rPr>
              <a:t>SMART INDIA HACKATHON 2025</a:t>
            </a:r>
            <a:endParaRPr lang="zh-CN" altLang="en-US" sz="4000" b="1" i="0" u="none" strike="noStrike" kern="1200" cap="none" spc="0" baseline="0">
              <a:solidFill>
                <a:schemeClr val="tx2"/>
              </a:solidFill>
              <a:latin typeface="Garamond" pitchFamily="18" charset="0"/>
              <a:ea typeface="ＭＳ Ｐゴシック" pitchFamily="1" charset="-128"/>
              <a:cs typeface="Lucida Sans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 rot="0">
            <a:off x="190174" y="1087344"/>
            <a:ext cx="6664716" cy="50825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Problem Statement ID –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Self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Problem Statement Title </a:t>
            </a: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-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AI-Based Real-Time Human Threat Detection and Identification System for the Indian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Army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Theme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–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AI-Based Human Threat Detection System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PS Category- </a:t>
            </a: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Hardware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Team ID - </a:t>
            </a: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Team Name – 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Digital Warriors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24" name="图片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0">
            <a:off x="9833042" y="0"/>
            <a:ext cx="2249850" cy="1062337"/>
          </a:xfrm>
          <a:prstGeom prst="rect"/>
          <a:noFill/>
          <a:ln w="12700" cmpd="sng" cap="flat">
            <a:noFill/>
            <a:prstDash val="solid"/>
            <a:miter/>
          </a:ln>
        </p:spPr>
      </p:pic>
    </p:spTree>
    <p:extLst>
      <p:ext uri="{BB962C8B-B14F-4D97-AF65-F5344CB8AC3E}">
        <p14:creationId xmlns:p14="http://schemas.microsoft.com/office/powerpoint/2010/main" val="75866754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"/>
          <p:cNvSpPr>
            <a:spLocks/>
          </p:cNvSpPr>
          <p:nvPr/>
        </p:nvSpPr>
        <p:spPr>
          <a:xfrm rot="0">
            <a:off x="0" y="6354762"/>
            <a:ext cx="12191999" cy="503237"/>
          </a:xfrm>
          <a:prstGeom prst="rect"/>
          <a:solidFill>
            <a:srgbClr val="0070C0"/>
          </a:solidFill>
          <a:ln w="9525" cmpd="sng" cap="flat">
            <a:noFill/>
            <a:prstDash val="solid"/>
            <a:miter/>
          </a:ln>
          <a:effectLst>
            <a:outerShdw sx="100000" sy="100000" algn="b" rotWithShape="0" blurRad="0" dist="23000" dir="5400000">
              <a:srgbClr val="808080">
                <a:alpha val="34509"/>
              </a:srgbClr>
            </a:outerShdw>
          </a:effectLst>
        </p:spPr>
      </p:sp>
      <p:sp>
        <p:nvSpPr>
          <p:cNvPr id="31" name="文本框"/>
          <p:cNvSpPr>
            <a:spLocks noGrp="1"/>
          </p:cNvSpPr>
          <p:nvPr>
            <p:ph type="title"/>
          </p:nvPr>
        </p:nvSpPr>
        <p:spPr>
          <a:xfrm rot="0">
            <a:off x="182998" y="0"/>
            <a:ext cx="10972800" cy="1143000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zh-CN" altLang="en-US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</a:b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IDEA TITLE</a:t>
            </a:r>
            <a:br>
              <a:rPr lang="zh-CN" altLang="en-US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</a:b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32" name="文本框"/>
          <p:cNvSpPr>
            <a:spLocks noGrp="1"/>
          </p:cNvSpPr>
          <p:nvPr>
            <p:ph type="sldNum"/>
          </p:nvPr>
        </p:nvSpPr>
        <p:spPr>
          <a:xfrm rot="0">
            <a:off x="8737600" y="6356352"/>
            <a:ext cx="2844799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3</a:t>
            </a:fld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33" name="文本框"/>
          <p:cNvSpPr>
            <a:spLocks noGrp="1"/>
          </p:cNvSpPr>
          <p:nvPr>
            <p:ph type="ftr"/>
          </p:nvPr>
        </p:nvSpPr>
        <p:spPr>
          <a:xfrm rot="0">
            <a:off x="4648200" y="6356352"/>
            <a:ext cx="32040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TradeGothic" pitchFamily="0" charset="0"/>
                <a:ea typeface="宋体" pitchFamily="0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chemeClr val="bg1"/>
              </a:solidFill>
              <a:latin typeface="TradeGothic" pitchFamily="0" charset="0"/>
              <a:ea typeface="宋体" pitchFamily="0" charset="0"/>
              <a:cs typeface="Calibri" pitchFamily="34" charset="0"/>
            </a:endParaRPr>
          </a:p>
        </p:txBody>
      </p:sp>
      <p:grpSp>
        <p:nvGrpSpPr>
          <p:cNvPr id="34" name="对象"/>
          <p:cNvGrpSpPr>
            <a:grpSpLocks/>
          </p:cNvGrpSpPr>
          <p:nvPr/>
        </p:nvGrpSpPr>
        <p:grpSpPr>
          <a:xfrm>
            <a:off x="5019276" y="430738"/>
            <a:ext cx="8128000" cy="5418667"/>
            <a:chOff x="5019276" y="430738"/>
            <a:chExt cx="8128000" cy="5418667"/>
          </a:xfrm>
        </p:grpSpPr>
        <p:sp>
          <p:nvSpPr>
            <p:cNvPr id="34" name="对象"/>
            <p:cNvSpPr>
              <a:spLocks/>
            </p:cNvSpPr>
            <p:nvPr/>
          </p:nvSpPr>
          <p:spPr>
            <a:xfrm rot="0">
              <a:off x="5019276" y="430738"/>
              <a:ext cx="8128000" cy="5418667"/>
            </a:xfrm>
            <a:prstGeom prst="rect"/>
            <a:noFill/>
            <a:ln w="12700" cmpd="sng" cap="flat">
              <a:noFill/>
              <a:prstDash val="solid"/>
              <a:miter/>
            </a:ln>
          </p:spPr>
        </p:sp>
      </p:grpSp>
      <p:sp>
        <p:nvSpPr>
          <p:cNvPr id="35" name="流程图: 决策"/>
          <p:cNvSpPr>
            <a:spLocks/>
          </p:cNvSpPr>
          <p:nvPr/>
        </p:nvSpPr>
        <p:spPr>
          <a:xfrm rot="0">
            <a:off x="9331317" y="2562662"/>
            <a:ext cx="2602399" cy="1039273"/>
          </a:xfrm>
          <a:prstGeom prst="flowChartDecision"/>
          <a:gradFill rotWithShape="1">
            <a:gsLst>
              <a:gs pos="0">
                <a:srgbClr val="FFCFB7">
                  <a:alpha val="100000"/>
                </a:srgbClr>
              </a:gs>
              <a:gs pos="35000">
                <a:srgbClr val="FFDCCD">
                  <a:alpha val="100000"/>
                </a:srgbClr>
              </a:gs>
              <a:gs pos="100000">
                <a:srgbClr val="FFF3ED">
                  <a:alpha val="100000"/>
                </a:srgbClr>
              </a:gs>
            </a:gsLst>
            <a:lin ang="16200000" scaled="1"/>
          </a:gradFill>
          <a:ln w="9525" cmpd="sng" cap="flat">
            <a:solidFill>
              <a:srgbClr val="F59340"/>
            </a:solidFill>
            <a:prstDash val="solid"/>
            <a:round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00000"/>
                </a:solidFill>
                <a:latin typeface="New Roman" pitchFamily="0" charset="0"/>
                <a:ea typeface="宋体" pitchFamily="0" charset="0"/>
                <a:cs typeface="Calibri" pitchFamily="34" charset="0"/>
              </a:rPr>
              <a:t>Email Scanner</a:t>
            </a:r>
            <a:endParaRPr lang="zh-CN" altLang="en-US" sz="1400" b="1" i="0" u="none" strike="noStrike" kern="1200" cap="none" spc="0" baseline="0">
              <a:solidFill>
                <a:srgbClr val="000000"/>
              </a:solidFill>
              <a:latin typeface="New Roman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6" name="流程图: 决策"/>
          <p:cNvSpPr>
            <a:spLocks/>
          </p:cNvSpPr>
          <p:nvPr/>
        </p:nvSpPr>
        <p:spPr>
          <a:xfrm rot="0">
            <a:off x="9251977" y="3729719"/>
            <a:ext cx="2589359" cy="1020030"/>
          </a:xfrm>
          <a:prstGeom prst="flowChartDecision"/>
          <a:solidFill>
            <a:srgbClr val="C5D9F1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chemeClr val="tx1"/>
                </a:solidFill>
                <a:latin typeface="New Roman" pitchFamily="0" charset="0"/>
                <a:ea typeface="宋体" pitchFamily="0" charset="0"/>
                <a:cs typeface="Calibri" pitchFamily="34" charset="0"/>
              </a:rPr>
              <a:t>URL/Website Analyzer</a:t>
            </a:r>
            <a:endParaRPr lang="zh-CN" altLang="en-US" sz="1400" b="1" i="0" u="none" strike="noStrike" kern="1200" cap="none" spc="0" baseline="0">
              <a:solidFill>
                <a:schemeClr val="tx1"/>
              </a:solidFill>
              <a:latin typeface="New Roman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7" name="流程图: 决策"/>
          <p:cNvSpPr>
            <a:spLocks/>
          </p:cNvSpPr>
          <p:nvPr/>
        </p:nvSpPr>
        <p:spPr>
          <a:xfrm rot="0">
            <a:off x="9203285" y="4837788"/>
            <a:ext cx="2602400" cy="987987"/>
          </a:xfrm>
          <a:prstGeom prst="flowChartDecision"/>
          <a:gradFill rotWithShape="1">
            <a:gsLst>
              <a:gs pos="0">
                <a:srgbClr val="FFA29F">
                  <a:alpha val="100000"/>
                </a:srgbClr>
              </a:gs>
              <a:gs pos="35000">
                <a:srgbClr val="FFBBBB">
                  <a:alpha val="100000"/>
                </a:srgbClr>
              </a:gs>
              <a:gs pos="100000">
                <a:srgbClr val="FFE5E5">
                  <a:alpha val="100000"/>
                </a:srgbClr>
              </a:gs>
            </a:gsLst>
            <a:lin ang="16200000" scaled="1"/>
          </a:gradFill>
          <a:ln w="9525" cmpd="sng" cap="flat">
            <a:solidFill>
              <a:srgbClr val="BF4B48"/>
            </a:solidFill>
            <a:prstDash val="solid"/>
            <a:round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00000"/>
                </a:solidFill>
                <a:latin typeface="New Roman" pitchFamily="0" charset="0"/>
                <a:ea typeface="宋体" pitchFamily="0" charset="0"/>
                <a:cs typeface="Calibri" pitchFamily="34" charset="0"/>
              </a:rPr>
              <a:t>Browser Extension</a:t>
            </a:r>
            <a:endParaRPr lang="zh-CN" altLang="en-US" sz="1400" b="1" i="0" u="none" strike="noStrike" kern="1200" cap="none" spc="0" baseline="0">
              <a:solidFill>
                <a:srgbClr val="000000"/>
              </a:solidFill>
              <a:latin typeface="New Roman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38" name="燕尾形箭头"/>
          <p:cNvSpPr>
            <a:spLocks/>
          </p:cNvSpPr>
          <p:nvPr/>
        </p:nvSpPr>
        <p:spPr>
          <a:xfrm rot="0">
            <a:off x="4212361" y="3314160"/>
            <a:ext cx="1517292" cy="831120"/>
          </a:xfrm>
          <a:prstGeom prst="notchedRightArrow">
            <a:avLst>
              <a:gd name="adj1" fmla="val 50000"/>
              <a:gd name="adj2" fmla="val 45639"/>
            </a:avLst>
          </a:prstGeom>
          <a:gradFill rotWithShape="1">
            <a:gsLst>
              <a:gs pos="0">
                <a:srgbClr val="000000">
                  <a:alpha val="100000"/>
                </a:srgbClr>
              </a:gs>
              <a:gs pos="100000">
                <a:srgbClr val="BBBBBB">
                  <a:alpha val="100000"/>
                </a:srgbClr>
              </a:gs>
            </a:gsLst>
            <a:lin ang="16200000" scaled="1"/>
          </a:gradFill>
          <a:ln w="9525" cmpd="sng" cap="flat">
            <a:solidFill>
              <a:srgbClr val="000000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" name="圆角矩形"/>
          <p:cNvSpPr>
            <a:spLocks/>
          </p:cNvSpPr>
          <p:nvPr/>
        </p:nvSpPr>
        <p:spPr>
          <a:xfrm rot="0">
            <a:off x="5712254" y="2498797"/>
            <a:ext cx="2259621" cy="2461845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9FC0FF">
                  <a:alpha val="100000"/>
                </a:srgbClr>
              </a:gs>
              <a:gs pos="35000">
                <a:srgbClr val="BDD5FF">
                  <a:alpha val="100000"/>
                </a:srgbClr>
              </a:gs>
              <a:gs pos="100000">
                <a:srgbClr val="E5EFFF">
                  <a:alpha val="100000"/>
                </a:srgbClr>
              </a:gs>
            </a:gsLst>
            <a:lin ang="16200000" scaled="1"/>
          </a:gra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Solution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:.</a:t>
            </a: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All-in-one compact human threat detection platform combining sensing, AI image analysis, alerts, location and optional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wireless communication</a:t>
            </a:r>
            <a:r>
              <a:rPr lang="en-US" altLang="zh-CN" sz="20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cxnSp>
        <p:nvCxnSpPr>
          <p:cNvPr id="40" name="直线连接线"/>
          <p:cNvCxnSpPr>
            <a:cxnSpLocks/>
          </p:cNvCxnSpPr>
          <p:nvPr/>
        </p:nvCxnSpPr>
        <p:spPr>
          <a:xfrm rot="0">
            <a:off x="8420897" y="1791064"/>
            <a:ext cx="739769" cy="1587"/>
          </a:xfrm>
          <a:prstGeom prst="straightConnector1"/>
          <a:noFill/>
          <a:ln w="25400" cmpd="sng" cap="flat">
            <a:solidFill>
              <a:srgbClr val="000000"/>
            </a:solidFill>
            <a:prstDash val="solid"/>
            <a:round/>
            <a:tailEnd type="triangle" w="med" len="med"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cxnSp>
      <p:cxnSp>
        <p:nvCxnSpPr>
          <p:cNvPr id="41" name="直线连接线"/>
          <p:cNvCxnSpPr>
            <a:cxnSpLocks/>
          </p:cNvCxnSpPr>
          <p:nvPr/>
        </p:nvCxnSpPr>
        <p:spPr>
          <a:xfrm rot="0">
            <a:off x="8447978" y="4253885"/>
            <a:ext cx="803999" cy="26050"/>
          </a:xfrm>
          <a:prstGeom prst="straightConnector1"/>
          <a:noFill/>
          <a:ln w="25400" cmpd="sng" cap="flat">
            <a:solidFill>
              <a:srgbClr val="000000"/>
            </a:solidFill>
            <a:prstDash val="solid"/>
            <a:round/>
            <a:tailEnd type="triangle" w="med" len="med"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cxnSp>
      <p:cxnSp>
        <p:nvCxnSpPr>
          <p:cNvPr id="42" name="直线连接线"/>
          <p:cNvCxnSpPr>
            <a:cxnSpLocks/>
          </p:cNvCxnSpPr>
          <p:nvPr/>
        </p:nvCxnSpPr>
        <p:spPr>
          <a:xfrm rot="0">
            <a:off x="8436569" y="5331782"/>
            <a:ext cx="766715" cy="1587"/>
          </a:xfrm>
          <a:prstGeom prst="straightConnector1"/>
          <a:noFill/>
          <a:ln w="25400" cmpd="sng" cap="flat">
            <a:solidFill>
              <a:srgbClr val="000000"/>
            </a:solidFill>
            <a:prstDash val="solid"/>
            <a:round/>
            <a:tailEnd type="triangle" w="med" len="med"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cxnSp>
      <p:sp>
        <p:nvSpPr>
          <p:cNvPr id="43" name="直线"/>
          <p:cNvSpPr>
            <a:spLocks/>
          </p:cNvSpPr>
          <p:nvPr/>
        </p:nvSpPr>
        <p:spPr>
          <a:xfrm rot="0">
            <a:off x="7986705" y="3729719"/>
            <a:ext cx="514700" cy="0"/>
          </a:xfrm>
          <a:prstGeom prst="line"/>
          <a:noFill/>
          <a:ln w="25400" cmpd="sng" cap="flat">
            <a:solidFill>
              <a:srgbClr val="4F81BD"/>
            </a:solidFill>
            <a:prstDash val="solid"/>
            <a:round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sp>
      <p:sp>
        <p:nvSpPr>
          <p:cNvPr id="44" name="直线"/>
          <p:cNvSpPr>
            <a:spLocks/>
          </p:cNvSpPr>
          <p:nvPr/>
        </p:nvSpPr>
        <p:spPr>
          <a:xfrm rot="0">
            <a:off x="8420897" y="1791064"/>
            <a:ext cx="0" cy="3540719"/>
          </a:xfrm>
          <a:prstGeom prst="line"/>
          <a:noFill/>
          <a:ln w="25400" cmpd="sng" cap="flat">
            <a:solidFill>
              <a:srgbClr val="4F81BD"/>
            </a:solidFill>
            <a:prstDash val="solid"/>
            <a:round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sp>
      <p:sp>
        <p:nvSpPr>
          <p:cNvPr id="45" name="椭圆"/>
          <p:cNvSpPr>
            <a:spLocks/>
          </p:cNvSpPr>
          <p:nvPr/>
        </p:nvSpPr>
        <p:spPr>
          <a:xfrm rot="0">
            <a:off x="68705" y="2002902"/>
            <a:ext cx="4115059" cy="3700732"/>
          </a:xfrm>
          <a:prstGeom prst="ellipse"/>
          <a:solidFill>
            <a:srgbClr val="CCC0DA"/>
          </a:solidFill>
          <a:ln w="9525" cmpd="sng" cap="flat">
            <a:solidFill>
              <a:srgbClr val="60497B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PROBLEM STATEMENT :-</a:t>
            </a:r>
            <a:endParaRPr lang="en-US" altLang="zh-CN" sz="1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Real-time AI-based human threat detection system for identifying unusual or potentially dangerous situations using human presence sensors, camera-based AI analysis and instant local alerts. The system is designed as a compact, low-cost college prototype with a practical detection zone of about 1–2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pitchFamily="0" charset="0"/>
                <a:cs typeface="Times New Roman" pitchFamily="18" charset="0"/>
              </a:rPr>
              <a:t>metres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pitchFamily="0" charset="0"/>
              <a:cs typeface="Times New Roman" pitchFamily="18" charset="0"/>
            </a:endParaRPr>
          </a:p>
        </p:txBody>
      </p:sp>
      <p:sp>
        <p:nvSpPr>
          <p:cNvPr id="46" name="流程图: 决策"/>
          <p:cNvSpPr>
            <a:spLocks/>
          </p:cNvSpPr>
          <p:nvPr/>
        </p:nvSpPr>
        <p:spPr>
          <a:xfrm rot="0">
            <a:off x="9331317" y="1225791"/>
            <a:ext cx="2602399" cy="1130547"/>
          </a:xfrm>
          <a:prstGeom prst="flowChartDecision"/>
          <a:solidFill>
            <a:srgbClr val="D7E4BC"/>
          </a:solidFill>
          <a:ln w="9525" cmpd="sng" cap="flat">
            <a:solidFill>
              <a:srgbClr val="EBF1DD"/>
            </a:solidFill>
            <a:prstDash val="solid"/>
            <a:round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000000"/>
                </a:solidFill>
                <a:latin typeface="New Roman" pitchFamily="0" charset="0"/>
                <a:ea typeface="宋体" pitchFamily="0" charset="0"/>
                <a:cs typeface="Calibri" pitchFamily="34" charset="0"/>
              </a:rPr>
              <a:t>Email Scanner</a:t>
            </a:r>
            <a:endParaRPr lang="zh-CN" altLang="en-US" sz="1400" b="1" i="0" u="none" strike="noStrike" kern="1200" cap="none" spc="0" baseline="0">
              <a:solidFill>
                <a:srgbClr val="000000"/>
              </a:solidFill>
              <a:latin typeface="New Roman" pitchFamily="0" charset="0"/>
              <a:ea typeface="宋体" pitchFamily="0" charset="0"/>
              <a:cs typeface="Calibri" pitchFamily="34" charset="0"/>
            </a:endParaRPr>
          </a:p>
        </p:txBody>
      </p:sp>
      <p:cxnSp>
        <p:nvCxnSpPr>
          <p:cNvPr id="47" name="直线连接线"/>
          <p:cNvCxnSpPr>
            <a:cxnSpLocks/>
          </p:cNvCxnSpPr>
          <p:nvPr/>
        </p:nvCxnSpPr>
        <p:spPr>
          <a:xfrm rot="0">
            <a:off x="8436569" y="3048346"/>
            <a:ext cx="803999" cy="26050"/>
          </a:xfrm>
          <a:prstGeom prst="straightConnector1"/>
          <a:noFill/>
          <a:ln w="25400" cmpd="sng" cap="flat">
            <a:solidFill>
              <a:srgbClr val="000000"/>
            </a:solidFill>
            <a:prstDash val="solid"/>
            <a:round/>
            <a:tailEnd type="triangle" w="med" len="med"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cxnSp>
      <p:pic>
        <p:nvPicPr>
          <p:cNvPr id="4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833042" y="0"/>
            <a:ext cx="2249850" cy="106233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49" name="椭圆" descr="Your startup LOGO"/>
          <p:cNvSpPr>
            <a:spLocks/>
          </p:cNvSpPr>
          <p:nvPr/>
        </p:nvSpPr>
        <p:spPr>
          <a:xfrm rot="0">
            <a:off x="217135" y="288041"/>
            <a:ext cx="1543570" cy="807334"/>
          </a:xfrm>
          <a:prstGeom prst="ellipse"/>
          <a:solidFill>
            <a:srgbClr val="FFFFFF"/>
          </a:solidFill>
          <a:ln w="25400" cmpd="sng" cap="flat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defTabSz="4572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Digital Warriors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0945598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"/>
          <p:cNvSpPr>
            <a:spLocks/>
          </p:cNvSpPr>
          <p:nvPr/>
        </p:nvSpPr>
        <p:spPr>
          <a:xfrm rot="0">
            <a:off x="0" y="6354762"/>
            <a:ext cx="12191999" cy="503237"/>
          </a:xfrm>
          <a:prstGeom prst="rect"/>
          <a:solidFill>
            <a:srgbClr val="0070C0"/>
          </a:solidFill>
          <a:ln w="9525" cmpd="sng" cap="flat">
            <a:noFill/>
            <a:prstDash val="solid"/>
            <a:miter/>
          </a:ln>
          <a:effectLst>
            <a:outerShdw sx="100000" sy="100000" algn="b" rotWithShape="0" blurRad="0" dist="23000" dir="5400000">
              <a:srgbClr val="808080">
                <a:alpha val="34509"/>
              </a:srgbClr>
            </a:outerShdw>
          </a:effectLst>
        </p:spPr>
      </p:sp>
      <p:sp>
        <p:nvSpPr>
          <p:cNvPr id="53" name="文本框"/>
          <p:cNvSpPr>
            <a:spLocks noGrp="1"/>
          </p:cNvSpPr>
          <p:nvPr>
            <p:ph type="sldNum"/>
          </p:nvPr>
        </p:nvSpPr>
        <p:spPr>
          <a:xfrm rot="0">
            <a:off x="8737600" y="6356352"/>
            <a:ext cx="2844799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chemeClr val="bg1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4</a:t>
            </a:fld>
            <a:endParaRPr lang="zh-CN" altLang="en-US" sz="1200" b="1" i="0" u="none" strike="noStrike" kern="1200" cap="none" spc="0" baseline="0">
              <a:solidFill>
                <a:schemeClr val="bg1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54" name="文本框"/>
          <p:cNvSpPr>
            <a:spLocks noGrp="1"/>
          </p:cNvSpPr>
          <p:nvPr>
            <p:ph type="ftr"/>
          </p:nvPr>
        </p:nvSpPr>
        <p:spPr>
          <a:xfrm rot="0">
            <a:off x="4648200" y="6356352"/>
            <a:ext cx="32040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TradeGothic" pitchFamily="0" charset="0"/>
                <a:ea typeface="宋体" pitchFamily="0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chemeClr val="bg1"/>
              </a:solidFill>
              <a:latin typeface="TradeGothic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3028334" y="39595"/>
            <a:ext cx="6135328" cy="11772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TECHNICAL APPROACH</a:t>
            </a:r>
            <a:endParaRPr lang="en-US" altLang="zh-CN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New Times ROman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56" name="圆角矩形"/>
          <p:cNvSpPr>
            <a:spLocks/>
          </p:cNvSpPr>
          <p:nvPr/>
        </p:nvSpPr>
        <p:spPr>
          <a:xfrm rot="0">
            <a:off x="4648198" y="3015572"/>
            <a:ext cx="2530812" cy="1177046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9FC0FF">
                  <a:alpha val="100000"/>
                </a:srgbClr>
              </a:gs>
              <a:gs pos="35000">
                <a:srgbClr val="BDD5FF">
                  <a:alpha val="100000"/>
                </a:srgbClr>
              </a:gs>
              <a:gs pos="100000">
                <a:srgbClr val="E5EFFF">
                  <a:alpha val="100000"/>
                </a:srgbClr>
              </a:gs>
            </a:gsLst>
            <a:lin ang="16200000" scaled="1"/>
          </a:gra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ALL-IN-ONE HUMAN THREAT DETECTION 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PLATFORM</a:t>
            </a:r>
            <a:endParaRPr lang="en-US" altLang="zh-CN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Real-time sensing • AI inference • 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alerts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57" name="圆角矩形"/>
          <p:cNvSpPr>
            <a:spLocks/>
          </p:cNvSpPr>
          <p:nvPr/>
        </p:nvSpPr>
        <p:spPr>
          <a:xfrm rot="0">
            <a:off x="1254867" y="1600199"/>
            <a:ext cx="2208180" cy="1415375"/>
          </a:xfrm>
          <a:prstGeom prst="roundRect">
            <a:avLst>
              <a:gd name="adj" fmla="val 16666"/>
            </a:avLst>
          </a:prstGeom>
          <a:solidFill>
            <a:srgbClr val="E5DFED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PIR motion sensor Human presence / movement 1–2 m demo zone Triggers camera analysis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58" name="同侧圆角矩形"/>
          <p:cNvSpPr>
            <a:spLocks/>
          </p:cNvSpPr>
          <p:nvPr/>
        </p:nvSpPr>
        <p:spPr>
          <a:xfrm rot="0">
            <a:off x="1254869" y="1378083"/>
            <a:ext cx="2208179" cy="447471"/>
          </a:xfrm>
          <a:prstGeom prst="round2SameRect">
            <a:avLst>
              <a:gd name="adj1" fmla="val 16138"/>
              <a:gd name="adj2" fmla="val 14490"/>
            </a:avLst>
          </a:prstGeom>
          <a:solidFill>
            <a:srgbClr val="B2A1C7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SENSING LAYER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59" name="圆角矩形"/>
          <p:cNvSpPr>
            <a:spLocks/>
          </p:cNvSpPr>
          <p:nvPr/>
        </p:nvSpPr>
        <p:spPr>
          <a:xfrm rot="0">
            <a:off x="8737746" y="1601819"/>
            <a:ext cx="2208180" cy="1415375"/>
          </a:xfrm>
          <a:prstGeom prst="roundRect">
            <a:avLst>
              <a:gd name="adj" fmla="val 16666"/>
            </a:avLst>
          </a:prstGeom>
          <a:solidFill>
            <a:srgbClr val="DAE5F2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NEO-6M GPS SX1278 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LoRa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Optional remote alert Outdoor location tag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60" name="同侧圆角矩形"/>
          <p:cNvSpPr>
            <a:spLocks/>
          </p:cNvSpPr>
          <p:nvPr/>
        </p:nvSpPr>
        <p:spPr>
          <a:xfrm rot="0">
            <a:off x="8737747" y="1378083"/>
            <a:ext cx="2208178" cy="447471"/>
          </a:xfrm>
          <a:prstGeom prst="round2SameRect">
            <a:avLst>
              <a:gd name="adj1" fmla="val 17449"/>
              <a:gd name="adj2" fmla="val 14490"/>
            </a:avLst>
          </a:prstGeom>
          <a:solidFill>
            <a:srgbClr val="8DB4E3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SENSING LAYER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61" name="圆角矩形"/>
          <p:cNvSpPr>
            <a:spLocks/>
          </p:cNvSpPr>
          <p:nvPr/>
        </p:nvSpPr>
        <p:spPr>
          <a:xfrm rot="0">
            <a:off x="1254868" y="4573620"/>
            <a:ext cx="2208180" cy="1415374"/>
          </a:xfrm>
          <a:prstGeom prst="roundRect">
            <a:avLst>
              <a:gd name="adj" fmla="val 16666"/>
            </a:avLst>
          </a:prstGeom>
          <a:solidFill>
            <a:srgbClr val="FDE9D9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Raspberry Pi 4 (4 GB) Python + 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OpenCV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AI </a:t>
            </a: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model / rule logic Local decision making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62" name="同侧圆角矩形"/>
          <p:cNvSpPr>
            <a:spLocks/>
          </p:cNvSpPr>
          <p:nvPr/>
        </p:nvSpPr>
        <p:spPr>
          <a:xfrm rot="0">
            <a:off x="1254867" y="4349884"/>
            <a:ext cx="2208179" cy="447471"/>
          </a:xfrm>
          <a:prstGeom prst="round2SameRect">
            <a:avLst>
              <a:gd name="adj1" fmla="val 16138"/>
              <a:gd name="adj2" fmla="val 14490"/>
            </a:avLst>
          </a:prstGeom>
          <a:solidFill>
            <a:srgbClr val="FAC090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PROCESSING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63" name="圆角矩形"/>
          <p:cNvSpPr>
            <a:spLocks/>
          </p:cNvSpPr>
          <p:nvPr/>
        </p:nvSpPr>
        <p:spPr>
          <a:xfrm rot="0">
            <a:off x="8737276" y="4573619"/>
            <a:ext cx="2208180" cy="1415374"/>
          </a:xfrm>
          <a:prstGeom prst="roundRect">
            <a:avLst>
              <a:gd name="adj" fmla="val 16666"/>
            </a:avLst>
          </a:prstGeom>
          <a:solidFill>
            <a:srgbClr val="F3DCDB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Buzzer + LED OLED status display Threat notification Human intervention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64" name="同侧圆角矩形"/>
          <p:cNvSpPr>
            <a:spLocks/>
          </p:cNvSpPr>
          <p:nvPr/>
        </p:nvSpPr>
        <p:spPr>
          <a:xfrm rot="0">
            <a:off x="8737747" y="4370958"/>
            <a:ext cx="2208178" cy="447471"/>
          </a:xfrm>
          <a:prstGeom prst="round2SameRect">
            <a:avLst>
              <a:gd name="adj1" fmla="val 17449"/>
              <a:gd name="adj2" fmla="val 14490"/>
            </a:avLst>
          </a:prstGeom>
          <a:solidFill>
            <a:srgbClr val="DA9694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ALERT LAYER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cxnSp>
        <p:nvCxnSpPr>
          <p:cNvPr id="65" name="直线连接线"/>
          <p:cNvCxnSpPr>
            <a:cxnSpLocks/>
            <a:endCxn id="59" idx="1"/>
          </p:cNvCxnSpPr>
          <p:nvPr/>
        </p:nvCxnSpPr>
        <p:spPr>
          <a:xfrm flipV="1" rot="21600000">
            <a:off x="7179012" y="2309507"/>
            <a:ext cx="1558734" cy="793615"/>
          </a:xfrm>
          <a:prstGeom prst="straightConnector1"/>
          <a:noFill/>
          <a:ln w="25400" cmpd="sng" cap="flat">
            <a:solidFill>
              <a:srgbClr val="4F81BD"/>
            </a:solidFill>
            <a:prstDash val="solid"/>
            <a:round/>
            <a:tailEnd type="arrow" w="med" len="med"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cxnSp>
      <p:cxnSp>
        <p:nvCxnSpPr>
          <p:cNvPr id="66" name="直线连接线"/>
          <p:cNvCxnSpPr>
            <a:cxnSpLocks/>
          </p:cNvCxnSpPr>
          <p:nvPr/>
        </p:nvCxnSpPr>
        <p:spPr>
          <a:xfrm rot="0">
            <a:off x="7179010" y="4114798"/>
            <a:ext cx="1558264" cy="1166506"/>
          </a:xfrm>
          <a:prstGeom prst="straightConnector1"/>
          <a:noFill/>
          <a:ln w="25400" cmpd="sng" cap="flat">
            <a:solidFill>
              <a:srgbClr val="4F81BD"/>
            </a:solidFill>
            <a:prstDash val="solid"/>
            <a:round/>
            <a:tailEnd type="arrow" w="med" len="med"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cxnSp>
      <p:cxnSp>
        <p:nvCxnSpPr>
          <p:cNvPr id="67" name="直线连接线"/>
          <p:cNvCxnSpPr>
            <a:cxnSpLocks/>
            <a:endCxn id="57" idx="3"/>
          </p:cNvCxnSpPr>
          <p:nvPr/>
        </p:nvCxnSpPr>
        <p:spPr>
          <a:xfrm flipH="1" flipV="1" rot="0">
            <a:off x="3463047" y="2307887"/>
            <a:ext cx="1254868" cy="795236"/>
          </a:xfrm>
          <a:prstGeom prst="straightConnector1"/>
          <a:noFill/>
          <a:ln w="25400" cmpd="sng" cap="flat">
            <a:solidFill>
              <a:srgbClr val="4F81BD"/>
            </a:solidFill>
            <a:prstDash val="solid"/>
            <a:round/>
            <a:tailEnd type="arrow" w="med" len="med"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cxnSp>
      <p:cxnSp>
        <p:nvCxnSpPr>
          <p:cNvPr id="68" name="直线连接线"/>
          <p:cNvCxnSpPr>
            <a:cxnSpLocks/>
            <a:endCxn id="61" idx="3"/>
          </p:cNvCxnSpPr>
          <p:nvPr/>
        </p:nvCxnSpPr>
        <p:spPr>
          <a:xfrm flipH="1" rot="21600000">
            <a:off x="3463048" y="4192620"/>
            <a:ext cx="1254867" cy="1088687"/>
          </a:xfrm>
          <a:prstGeom prst="straightConnector1"/>
          <a:noFill/>
          <a:ln w="25400" cmpd="sng" cap="flat">
            <a:solidFill>
              <a:srgbClr val="4F81BD"/>
            </a:solidFill>
            <a:prstDash val="solid"/>
            <a:round/>
            <a:tailEnd type="arrow" w="med" len="med"/>
          </a:ln>
          <a:effectLst>
            <a:outerShdw sx="100000" sy="100000" algn="b" rotWithShape="0" blurRad="40000" dist="20000" dir="5400000">
              <a:srgbClr val="000000">
                <a:alpha val="37647"/>
              </a:srgbClr>
            </a:outerShdw>
          </a:effectLst>
        </p:spPr>
      </p:cxnSp>
      <p:pic>
        <p:nvPicPr>
          <p:cNvPr id="69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833042" y="0"/>
            <a:ext cx="2249850" cy="106233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70" name="椭圆" descr="Your startup LOGO"/>
          <p:cNvSpPr>
            <a:spLocks/>
          </p:cNvSpPr>
          <p:nvPr/>
        </p:nvSpPr>
        <p:spPr>
          <a:xfrm rot="0">
            <a:off x="217135" y="288041"/>
            <a:ext cx="1543570" cy="807334"/>
          </a:xfrm>
          <a:prstGeom prst="ellipse"/>
          <a:solidFill>
            <a:srgbClr val="FFFFFF"/>
          </a:solidFill>
          <a:ln w="25400" cmpd="sng" cap="flat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defTabSz="4572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Digital Warriors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43243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"/>
          <p:cNvSpPr>
            <a:spLocks/>
          </p:cNvSpPr>
          <p:nvPr/>
        </p:nvSpPr>
        <p:spPr>
          <a:xfrm rot="0">
            <a:off x="0" y="6354762"/>
            <a:ext cx="12191999" cy="503237"/>
          </a:xfrm>
          <a:prstGeom prst="rect"/>
          <a:solidFill>
            <a:srgbClr val="0070C0"/>
          </a:solidFill>
          <a:ln w="9525" cmpd="sng" cap="flat">
            <a:noFill/>
            <a:prstDash val="solid"/>
            <a:miter/>
          </a:ln>
          <a:effectLst>
            <a:outerShdw sx="100000" sy="100000" algn="b" rotWithShape="0" blurRad="0" dist="23000" dir="5400000">
              <a:srgbClr val="808080">
                <a:alpha val="34509"/>
              </a:srgbClr>
            </a:outerShdw>
          </a:effectLst>
        </p:spPr>
      </p:sp>
      <p:sp>
        <p:nvSpPr>
          <p:cNvPr id="74" name="文本框"/>
          <p:cNvSpPr>
            <a:spLocks noGrp="1"/>
          </p:cNvSpPr>
          <p:nvPr>
            <p:ph type="title"/>
          </p:nvPr>
        </p:nvSpPr>
        <p:spPr>
          <a:xfrm rot="0">
            <a:off x="609600" y="-47625"/>
            <a:ext cx="10972800" cy="1143000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FEASIBILITY AND VIABILITY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75" name="文本框"/>
          <p:cNvSpPr>
            <a:spLocks noGrp="1"/>
          </p:cNvSpPr>
          <p:nvPr>
            <p:ph type="sldNum"/>
          </p:nvPr>
        </p:nvSpPr>
        <p:spPr>
          <a:xfrm rot="0">
            <a:off x="8737600" y="6356352"/>
            <a:ext cx="2844799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5</a:t>
            </a:fld>
            <a:endParaRPr lang="zh-CN" altLang="en-US" sz="1200" b="1" i="0" u="none" strike="noStrike" kern="1200" cap="none" spc="0" baseline="0">
              <a:solidFill>
                <a:srgbClr val="FFFFFF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76" name="文本框"/>
          <p:cNvSpPr>
            <a:spLocks noGrp="1"/>
          </p:cNvSpPr>
          <p:nvPr>
            <p:ph type="ftr"/>
          </p:nvPr>
        </p:nvSpPr>
        <p:spPr>
          <a:xfrm rot="0">
            <a:off x="4648200" y="6356352"/>
            <a:ext cx="32040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TradeGothic" pitchFamily="0" charset="0"/>
                <a:ea typeface="宋体" pitchFamily="0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TradeGothic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77" name="对角圆角矩形"/>
          <p:cNvSpPr>
            <a:spLocks/>
          </p:cNvSpPr>
          <p:nvPr/>
        </p:nvSpPr>
        <p:spPr>
          <a:xfrm rot="0">
            <a:off x="1060315" y="1269851"/>
            <a:ext cx="3200400" cy="2793597"/>
          </a:xfrm>
          <a:prstGeom prst="round2DiagRect">
            <a:avLst>
              <a:gd name="adj1" fmla="val 16666"/>
              <a:gd name="adj2" fmla="val 115"/>
            </a:avLst>
          </a:prstGeom>
          <a:solidFill>
            <a:srgbClr val="E5DFED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Raspberry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Pi 4 can perform local Python/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OpenCV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processing.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PIR + camera provides a practical two-stage detection approach.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GPS and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LoRa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modules are widely available and easy to interface.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78" name="对角圆角矩形"/>
          <p:cNvSpPr>
            <a:spLocks/>
          </p:cNvSpPr>
          <p:nvPr/>
        </p:nvSpPr>
        <p:spPr>
          <a:xfrm rot="0">
            <a:off x="1060315" y="1143974"/>
            <a:ext cx="3200400" cy="463997"/>
          </a:xfrm>
          <a:prstGeom prst="round2DiagRect">
            <a:avLst>
              <a:gd name="adj1" fmla="val 16666"/>
              <a:gd name="adj2" fmla="val 671"/>
            </a:avLst>
          </a:prstGeom>
          <a:solidFill>
            <a:srgbClr val="B2A1C7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TECHNICAL FEASIBILITY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79" name="对角圆角矩形"/>
          <p:cNvSpPr>
            <a:spLocks/>
          </p:cNvSpPr>
          <p:nvPr/>
        </p:nvSpPr>
        <p:spPr>
          <a:xfrm rot="0">
            <a:off x="4811949" y="1269852"/>
            <a:ext cx="3200400" cy="2793597"/>
          </a:xfrm>
          <a:prstGeom prst="round2DiagRect">
            <a:avLst>
              <a:gd name="adj1" fmla="val 16666"/>
              <a:gd name="adj2" fmla="val 74"/>
            </a:avLst>
          </a:prstGeom>
          <a:solidFill>
            <a:srgbClr val="DBEEF3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Target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prototype budget: approximately ■7,000–■8,000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Low-cost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architecture supports scalable prototype deployment.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Suitable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for student-level development and demonstrations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80" name="对角圆角矩形"/>
          <p:cNvSpPr>
            <a:spLocks/>
          </p:cNvSpPr>
          <p:nvPr/>
        </p:nvSpPr>
        <p:spPr>
          <a:xfrm rot="0">
            <a:off x="4811949" y="1160498"/>
            <a:ext cx="3200400" cy="447473"/>
          </a:xfrm>
          <a:prstGeom prst="round2DiagRect">
            <a:avLst>
              <a:gd name="adj1" fmla="val 16666"/>
              <a:gd name="adj2" fmla="val 435"/>
            </a:avLst>
          </a:prstGeom>
          <a:solidFill>
            <a:srgbClr val="94CDDC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ECONOMIC VIABILITY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81" name="对角圆角矩形"/>
          <p:cNvSpPr>
            <a:spLocks/>
          </p:cNvSpPr>
          <p:nvPr/>
        </p:nvSpPr>
        <p:spPr>
          <a:xfrm rot="0">
            <a:off x="8654375" y="1179965"/>
            <a:ext cx="3200400" cy="2883484"/>
          </a:xfrm>
          <a:prstGeom prst="round2DiagRect">
            <a:avLst>
              <a:gd name="adj1" fmla="val 16666"/>
              <a:gd name="adj2" fmla="val 0"/>
            </a:avLst>
          </a:prstGeom>
          <a:solidFill>
            <a:srgbClr val="FDE9D9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Simple workflow with fast local response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Visual/audio alert supports immediate human intervention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Modular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and maintainable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prototype design.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82" name="对角圆角矩形"/>
          <p:cNvSpPr>
            <a:spLocks/>
          </p:cNvSpPr>
          <p:nvPr/>
        </p:nvSpPr>
        <p:spPr>
          <a:xfrm rot="0">
            <a:off x="8654375" y="1147249"/>
            <a:ext cx="3200400" cy="460723"/>
          </a:xfrm>
          <a:prstGeom prst="round2DiagRect">
            <a:avLst>
              <a:gd name="adj1" fmla="val 16666"/>
              <a:gd name="adj2" fmla="val 0"/>
            </a:avLst>
          </a:prstGeom>
          <a:solidFill>
            <a:srgbClr val="FAC090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OPERATIONAL VIABILITY</a:t>
            </a:r>
            <a:endParaRPr lang="zh-CN" altLang="en-US" sz="18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83" name="圆角矩形"/>
          <p:cNvSpPr>
            <a:spLocks/>
          </p:cNvSpPr>
          <p:nvPr/>
        </p:nvSpPr>
        <p:spPr>
          <a:xfrm rot="0">
            <a:off x="1060315" y="4552545"/>
            <a:ext cx="10794460" cy="1468876"/>
          </a:xfrm>
          <a:prstGeom prst="roundRect">
            <a:avLst>
              <a:gd name="adj" fmla="val 16666"/>
            </a:avLst>
          </a:prstGeom>
          <a:solidFill>
            <a:srgbClr val="C5D9F1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KEY CHALLENGES &amp; MITIGATION 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Low light / difficult scenes → use suitable lighting, camera placement and model preprocessing.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Power or connectivity limitations → local alerts remain functional;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LoRa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is optional for remote notification.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Privacy concerns → process images locally and avoid unnecessary cloud storage/transmission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pic>
        <p:nvPicPr>
          <p:cNvPr id="84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833042" y="0"/>
            <a:ext cx="2249850" cy="106233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85" name="椭圆" descr="Your startup LOGO"/>
          <p:cNvSpPr>
            <a:spLocks/>
          </p:cNvSpPr>
          <p:nvPr/>
        </p:nvSpPr>
        <p:spPr>
          <a:xfrm rot="0">
            <a:off x="217135" y="288041"/>
            <a:ext cx="1543570" cy="807334"/>
          </a:xfrm>
          <a:prstGeom prst="ellipse"/>
          <a:solidFill>
            <a:srgbClr val="FFFFFF"/>
          </a:solidFill>
          <a:ln w="25400" cmpd="sng" cap="flat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defTabSz="4572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Digital Warriors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588024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"/>
          <p:cNvSpPr>
            <a:spLocks/>
          </p:cNvSpPr>
          <p:nvPr/>
        </p:nvSpPr>
        <p:spPr>
          <a:xfrm rot="0">
            <a:off x="0" y="6354762"/>
            <a:ext cx="12191999" cy="503237"/>
          </a:xfrm>
          <a:prstGeom prst="rect"/>
          <a:solidFill>
            <a:srgbClr val="0070C0"/>
          </a:solidFill>
          <a:ln w="9525" cmpd="sng" cap="flat">
            <a:noFill/>
            <a:prstDash val="solid"/>
            <a:miter/>
          </a:ln>
          <a:effectLst>
            <a:outerShdw sx="100000" sy="100000" algn="b" rotWithShape="0" blurRad="0" dist="23000" dir="5400000">
              <a:srgbClr val="808080">
                <a:alpha val="34509"/>
              </a:srgbClr>
            </a:outerShdw>
          </a:effectLst>
        </p:spPr>
      </p:sp>
      <p:sp>
        <p:nvSpPr>
          <p:cNvPr id="89" name="文本框"/>
          <p:cNvSpPr>
            <a:spLocks noGrp="1"/>
          </p:cNvSpPr>
          <p:nvPr>
            <p:ph type="title"/>
          </p:nvPr>
        </p:nvSpPr>
        <p:spPr>
          <a:xfrm rot="0">
            <a:off x="609600" y="-47625"/>
            <a:ext cx="10972800" cy="1143000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IMPACT AND BENEFITS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90" name="文本框"/>
          <p:cNvSpPr>
            <a:spLocks noGrp="1"/>
          </p:cNvSpPr>
          <p:nvPr>
            <p:ph type="sldNum"/>
          </p:nvPr>
        </p:nvSpPr>
        <p:spPr>
          <a:xfrm rot="0">
            <a:off x="8737600" y="6356352"/>
            <a:ext cx="2844799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6</a:t>
            </a:fld>
            <a:endParaRPr lang="zh-CN" altLang="en-US" sz="1200" b="1" i="0" u="none" strike="noStrike" kern="1200" cap="none" spc="0" baseline="0">
              <a:solidFill>
                <a:srgbClr val="FFFFFF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91" name="文本框"/>
          <p:cNvSpPr>
            <a:spLocks noGrp="1"/>
          </p:cNvSpPr>
          <p:nvPr>
            <p:ph type="ftr"/>
          </p:nvPr>
        </p:nvSpPr>
        <p:spPr>
          <a:xfrm rot="0">
            <a:off x="4648200" y="6356352"/>
            <a:ext cx="32040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TradeGothic" pitchFamily="0" charset="0"/>
                <a:ea typeface="宋体" pitchFamily="0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TradeGothic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92" name="对角圆角矩形"/>
          <p:cNvSpPr>
            <a:spLocks/>
          </p:cNvSpPr>
          <p:nvPr/>
        </p:nvSpPr>
        <p:spPr>
          <a:xfrm rot="0">
            <a:off x="1060315" y="1269852"/>
            <a:ext cx="3200400" cy="2533664"/>
          </a:xfrm>
          <a:prstGeom prst="round2DiagRect">
            <a:avLst>
              <a:gd name="adj1" fmla="val 16666"/>
              <a:gd name="adj2" fmla="val 125"/>
            </a:avLst>
          </a:prstGeom>
          <a:solidFill>
            <a:srgbClr val="C5D9F1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Improves public and institutional safety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Increases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awareness of potential threats.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Supports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faster emergency response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Creates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safer campus and community environments.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93" name="对角圆角矩形"/>
          <p:cNvSpPr>
            <a:spLocks/>
          </p:cNvSpPr>
          <p:nvPr/>
        </p:nvSpPr>
        <p:spPr>
          <a:xfrm rot="0">
            <a:off x="1060317" y="1182883"/>
            <a:ext cx="3200400" cy="463998"/>
          </a:xfrm>
          <a:prstGeom prst="round2DiagRect">
            <a:avLst>
              <a:gd name="adj1" fmla="val 16666"/>
              <a:gd name="adj2" fmla="val 671"/>
            </a:avLst>
          </a:prstGeom>
          <a:solidFill>
            <a:srgbClr val="95B3D7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Social Benefits 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94" name="对角圆角矩形"/>
          <p:cNvSpPr>
            <a:spLocks/>
          </p:cNvSpPr>
          <p:nvPr/>
        </p:nvSpPr>
        <p:spPr>
          <a:xfrm rot="0">
            <a:off x="4755205" y="1368246"/>
            <a:ext cx="3200399" cy="2435269"/>
          </a:xfrm>
          <a:prstGeom prst="round2DiagRect">
            <a:avLst>
              <a:gd name="adj1" fmla="val 16666"/>
              <a:gd name="adj2" fmla="val 97"/>
            </a:avLst>
          </a:prstGeom>
          <a:solidFill>
            <a:srgbClr val="E5DFED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Low-cost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and affordable prototype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Reduces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manual monitoring costs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Uses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easily available components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Can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be scaled to multiple locations.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95" name="对角圆角矩形"/>
          <p:cNvSpPr>
            <a:spLocks/>
          </p:cNvSpPr>
          <p:nvPr/>
        </p:nvSpPr>
        <p:spPr>
          <a:xfrm rot="0">
            <a:off x="8505216" y="1269852"/>
            <a:ext cx="3200400" cy="2533664"/>
          </a:xfrm>
          <a:prstGeom prst="round2DiagRect">
            <a:avLst>
              <a:gd name="adj1" fmla="val 16666"/>
              <a:gd name="adj2" fmla="val 0"/>
            </a:avLst>
          </a:prstGeom>
          <a:solidFill>
            <a:srgbClr val="F3DCDB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Improves public and institutional safety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Increases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awareness of potential threats.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Supports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faster emergency response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Creates </a:t>
            </a: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safer campus and community environments.</a:t>
            </a: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96" name="对角圆角矩形"/>
          <p:cNvSpPr>
            <a:spLocks/>
          </p:cNvSpPr>
          <p:nvPr/>
        </p:nvSpPr>
        <p:spPr>
          <a:xfrm rot="0">
            <a:off x="4755205" y="1182883"/>
            <a:ext cx="3200399" cy="463998"/>
          </a:xfrm>
          <a:prstGeom prst="round2DiagRect">
            <a:avLst>
              <a:gd name="adj1" fmla="val 16666"/>
              <a:gd name="adj2" fmla="val 509"/>
            </a:avLst>
          </a:prstGeom>
          <a:solidFill>
            <a:srgbClr val="B2A1C7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Economic Benefits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97" name="对角圆角矩形"/>
          <p:cNvSpPr>
            <a:spLocks/>
          </p:cNvSpPr>
          <p:nvPr/>
        </p:nvSpPr>
        <p:spPr>
          <a:xfrm rot="0">
            <a:off x="8505216" y="1182883"/>
            <a:ext cx="3200400" cy="463998"/>
          </a:xfrm>
          <a:prstGeom prst="round2DiagRect">
            <a:avLst>
              <a:gd name="adj1" fmla="val 16666"/>
              <a:gd name="adj2" fmla="val 0"/>
            </a:avLst>
          </a:prstGeom>
          <a:solidFill>
            <a:srgbClr val="DA9694"/>
          </a:solidFill>
          <a:ln w="9525" cmpd="sng" cap="flat">
            <a:solidFill>
              <a:srgbClr val="DA9694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Environmental Benefits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pic>
        <p:nvPicPr>
          <p:cNvPr id="9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833042" y="0"/>
            <a:ext cx="2249850" cy="106233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99" name="圆角矩形"/>
          <p:cNvSpPr>
            <a:spLocks/>
          </p:cNvSpPr>
          <p:nvPr/>
        </p:nvSpPr>
        <p:spPr>
          <a:xfrm rot="0">
            <a:off x="1060316" y="4250987"/>
            <a:ext cx="10522083" cy="1605063"/>
          </a:xfrm>
          <a:prstGeom prst="roundRect">
            <a:avLst>
              <a:gd name="adj" fmla="val 16666"/>
            </a:avLst>
          </a:prstGeom>
          <a:solidFill>
            <a:srgbClr val="EBF1DD"/>
          </a:solidFill>
          <a:ln w="9525" cmpd="sng" cap="flat">
            <a:solidFill>
              <a:srgbClr val="4A7EBC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Impact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Early detection of suspicious activity.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Faster response to potential threats.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 Useful for campuses, institutions and public areas. 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CN" sz="1600" b="0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Reduces the need for continuous manual monitoring.</a:t>
            </a:r>
            <a:endParaRPr lang="en-US" altLang="zh-CN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b="0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00" name="椭圆" descr="Your startup LOGO"/>
          <p:cNvSpPr>
            <a:spLocks/>
          </p:cNvSpPr>
          <p:nvPr/>
        </p:nvSpPr>
        <p:spPr>
          <a:xfrm rot="0">
            <a:off x="217135" y="288041"/>
            <a:ext cx="1543570" cy="807334"/>
          </a:xfrm>
          <a:prstGeom prst="ellipse"/>
          <a:solidFill>
            <a:srgbClr val="FFFFFF"/>
          </a:solidFill>
          <a:ln w="25400" cmpd="sng" cap="flat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defTabSz="4572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Digital Warriors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430784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"/>
          <p:cNvSpPr>
            <a:spLocks/>
          </p:cNvSpPr>
          <p:nvPr/>
        </p:nvSpPr>
        <p:spPr>
          <a:xfrm rot="0">
            <a:off x="0" y="6354762"/>
            <a:ext cx="12191999" cy="503237"/>
          </a:xfrm>
          <a:prstGeom prst="rect"/>
          <a:solidFill>
            <a:srgbClr val="0070C0"/>
          </a:solidFill>
          <a:ln w="9525" cmpd="sng" cap="flat">
            <a:noFill/>
            <a:prstDash val="solid"/>
            <a:miter/>
          </a:ln>
          <a:effectLst>
            <a:outerShdw sx="100000" sy="100000" algn="b" rotWithShape="0" blurRad="0" dist="23000" dir="5400000">
              <a:srgbClr val="808080">
                <a:alpha val="34509"/>
              </a:srgbClr>
            </a:outerShdw>
          </a:effectLst>
        </p:spPr>
      </p:sp>
      <p:sp>
        <p:nvSpPr>
          <p:cNvPr id="104" name="文本框"/>
          <p:cNvSpPr>
            <a:spLocks noGrp="1"/>
          </p:cNvSpPr>
          <p:nvPr>
            <p:ph type="title"/>
          </p:nvPr>
        </p:nvSpPr>
        <p:spPr>
          <a:xfrm rot="0">
            <a:off x="609600" y="-47625"/>
            <a:ext cx="10972800" cy="1143000"/>
          </a:xfrm>
          <a:prstGeom prst="rect"/>
          <a:noFill/>
          <a:ln w="9525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ＭＳ Ｐゴシック" pitchFamily="1" charset="-128"/>
                <a:cs typeface="Times New Roman" pitchFamily="18" charset="0"/>
              </a:rPr>
              <a:t>RESEARCH  AND REFERENCES</a:t>
            </a:r>
            <a:endParaRPr lang="zh-CN" altLang="en-US" sz="36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ＭＳ Ｐゴシック" pitchFamily="1" charset="-128"/>
              <a:cs typeface="Times New Roman" pitchFamily="18" charset="0"/>
            </a:endParaRPr>
          </a:p>
        </p:txBody>
      </p:sp>
      <p:sp>
        <p:nvSpPr>
          <p:cNvPr id="105" name="文本框"/>
          <p:cNvSpPr>
            <a:spLocks noGrp="1"/>
          </p:cNvSpPr>
          <p:nvPr>
            <p:ph type="sldNum"/>
          </p:nvPr>
        </p:nvSpPr>
        <p:spPr>
          <a:xfrm rot="0">
            <a:off x="8737600" y="6356352"/>
            <a:ext cx="2844799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r" defTabSz="4572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1" i="0" u="none" strike="noStrike" kern="1200" cap="none" spc="0" baseline="0">
                <a:solidFill>
                  <a:srgbClr val="FFFFFF"/>
                </a:solidFill>
                <a:latin typeface="TradeGothic" pitchFamily="0" charset="0"/>
                <a:ea typeface="ＭＳ Ｐゴシック" pitchFamily="1" charset="-128"/>
                <a:cs typeface="Calibri" pitchFamily="34" charset="0"/>
              </a:rPr>
              <a:t>7</a:t>
            </a:fld>
            <a:endParaRPr lang="zh-CN" altLang="en-US" sz="1200" b="1" i="0" u="none" strike="noStrike" kern="1200" cap="none" spc="0" baseline="0">
              <a:solidFill>
                <a:srgbClr val="FFFFFF"/>
              </a:solidFill>
              <a:latin typeface="TradeGothic" pitchFamily="0" charset="0"/>
              <a:ea typeface="ＭＳ Ｐゴシック" pitchFamily="1" charset="-128"/>
              <a:cs typeface="Calibri" pitchFamily="34" charset="0"/>
            </a:endParaRPr>
          </a:p>
        </p:txBody>
      </p:sp>
      <p:sp>
        <p:nvSpPr>
          <p:cNvPr id="106" name="文本框"/>
          <p:cNvSpPr>
            <a:spLocks noGrp="1"/>
          </p:cNvSpPr>
          <p:nvPr>
            <p:ph type="ftr"/>
          </p:nvPr>
        </p:nvSpPr>
        <p:spPr>
          <a:xfrm rot="0">
            <a:off x="4648200" y="6356352"/>
            <a:ext cx="3204000" cy="365125"/>
          </a:xfrm>
          <a:prstGeom prst="rect"/>
          <a:noFill/>
          <a:ln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FFFFFF"/>
                </a:solidFill>
                <a:latin typeface="TradeGothic" pitchFamily="0" charset="0"/>
                <a:ea typeface="宋体" pitchFamily="0" charset="0"/>
                <a:cs typeface="Calibri" pitchFamily="34" charset="0"/>
              </a:rPr>
              <a:t>@SIH Idea submission- Template</a:t>
            </a:r>
            <a:endParaRPr lang="zh-CN" altLang="en-US" sz="1200" b="0" i="0" u="none" strike="noStrike" kern="1200" cap="none" spc="0" baseline="0">
              <a:solidFill>
                <a:srgbClr val="FFFFFF"/>
              </a:solidFill>
              <a:latin typeface="TradeGothic" pitchFamily="0" charset="0"/>
              <a:ea typeface="宋体" pitchFamily="0" charset="0"/>
              <a:cs typeface="Calibri" pitchFamily="34" charset="0"/>
            </a:endParaRPr>
          </a:p>
        </p:txBody>
      </p:sp>
      <p:sp>
        <p:nvSpPr>
          <p:cNvPr id="107" name="矩形"/>
          <p:cNvSpPr>
            <a:spLocks/>
          </p:cNvSpPr>
          <p:nvPr/>
        </p:nvSpPr>
        <p:spPr>
          <a:xfrm rot="0">
            <a:off x="1298071" y="1449585"/>
            <a:ext cx="7828675" cy="42252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“You Only Look Once (YOLOv8) Based Intrusion Detection System for Physical Security and Surveillance” – IEEE,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2024</a:t>
            </a: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“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YOLOv8: A Novel Object Detection Algorithm with Enhanced Performance and Robustness” – IEEE,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2024</a:t>
            </a: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“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Fast and High-Precision Human Fall Detection Using Improved YOLOv8 Model” – IEEE Access,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2025</a:t>
            </a: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“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Human Detection in Thermal Images Using YOLOv8 for Search and Rescue Missions” – IEEE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“</a:t>
            </a: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A </a:t>
            </a:r>
            <a:r>
              <a:rPr lang="en-US" altLang="zh-CN" sz="2000" b="1" i="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Calibri" pitchFamily="34" charset="0"/>
              </a:rPr>
              <a:t>YOLOv8 Approach for Personal Protective Equipment (PPE) Detection to Ensure Workers’ Safety” – IEEE, 2024</a:t>
            </a:r>
            <a:endParaRPr lang="zh-CN" altLang="en-US" sz="2000" b="1" i="0" u="none" strike="noStrike" kern="1200" cap="none" spc="0" baseline="0">
              <a:solidFill>
                <a:schemeClr val="tx1"/>
              </a:solidFill>
              <a:latin typeface="Calibri" pitchFamily="34" charset="0"/>
              <a:ea typeface="ＭＳ Ｐゴシック" pitchFamily="1" charset="-128"/>
              <a:cs typeface="Calibri" pitchFamily="34" charset="0"/>
            </a:endParaRPr>
          </a:p>
        </p:txBody>
      </p:sp>
      <p:pic>
        <p:nvPicPr>
          <p:cNvPr id="108" name="图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 rot="0">
            <a:off x="9833042" y="0"/>
            <a:ext cx="2249850" cy="1062337"/>
          </a:xfrm>
          <a:prstGeom prst="rect"/>
          <a:noFill/>
          <a:ln w="12700" cmpd="sng" cap="flat">
            <a:noFill/>
            <a:prstDash val="solid"/>
            <a:miter/>
          </a:ln>
        </p:spPr>
      </p:pic>
      <p:sp>
        <p:nvSpPr>
          <p:cNvPr id="109" name="椭圆" descr="Your startup LOGO"/>
          <p:cNvSpPr>
            <a:spLocks/>
          </p:cNvSpPr>
          <p:nvPr/>
        </p:nvSpPr>
        <p:spPr>
          <a:xfrm rot="0">
            <a:off x="217135" y="288041"/>
            <a:ext cx="1543570" cy="807334"/>
          </a:xfrm>
          <a:prstGeom prst="ellipse"/>
          <a:solidFill>
            <a:srgbClr val="FFFFFF"/>
          </a:solidFill>
          <a:ln w="25400" cmpd="sng" cap="flat">
            <a:solidFill>
              <a:srgbClr val="8064A2"/>
            </a:solidFill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marL="0" indent="0" algn="ctr" defTabSz="4572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000000"/>
                </a:solidFill>
                <a:latin typeface="Calibri" pitchFamily="34" charset="0"/>
                <a:ea typeface="宋体" pitchFamily="0" charset="0"/>
                <a:cs typeface="Calibri" pitchFamily="34" charset="0"/>
              </a:rPr>
              <a:t>Digital Warriors</a:t>
            </a:r>
            <a:endParaRPr lang="zh-CN" altLang="en-US" sz="1800" b="0" i="0" u="none" strike="noStrike" kern="1200" cap="none" spc="0" baseline="0">
              <a:solidFill>
                <a:srgbClr val="000000"/>
              </a:solidFill>
              <a:latin typeface="Calibri" pitchFamily="34" charset="0"/>
              <a:ea typeface="宋体" pitchFamily="0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24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8134</TotalTime>
  <Application>Yozo_Office</Application>
  <Company>Crowdfunder,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Investor Pitch Deck Template</dc:title>
  <dc:creator>Crowdfunder</dc:creator>
  <cp:lastModifiedBy>root</cp:lastModifiedBy>
  <cp:revision>174</cp:revision>
  <dcterms:created xsi:type="dcterms:W3CDTF">2013-12-12T18:46:50Z</dcterms:created>
  <dcterms:modified xsi:type="dcterms:W3CDTF">2026-09-13T00:21:38Z</dcterms:modified>
</cp:coreProperties>
</file>